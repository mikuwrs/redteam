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71" r:id="rId3"/>
    <p:sldId id="272" r:id="rId4"/>
    <p:sldId id="269" r:id="rId5"/>
    <p:sldId id="270" r:id="rId7"/>
    <p:sldId id="275" r:id="rId8"/>
    <p:sldId id="279" r:id="rId9"/>
    <p:sldId id="287" r:id="rId10"/>
    <p:sldId id="288" r:id="rId11"/>
    <p:sldId id="289" r:id="rId12"/>
    <p:sldId id="291" r:id="rId13"/>
    <p:sldId id="315" r:id="rId14"/>
    <p:sldId id="328" r:id="rId15"/>
    <p:sldId id="340" r:id="rId16"/>
    <p:sldId id="312" r:id="rId17"/>
    <p:sldId id="345" r:id="rId18"/>
    <p:sldId id="335" r:id="rId19"/>
    <p:sldId id="337" r:id="rId20"/>
    <p:sldId id="343" r:id="rId21"/>
    <p:sldId id="296" r:id="rId22"/>
    <p:sldId id="280" r:id="rId23"/>
    <p:sldId id="286" r:id="rId24"/>
    <p:sldId id="327" r:id="rId25"/>
    <p:sldId id="295" r:id="rId2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1DB3DB86-FA7D-4DD2-A548-B712E5D9EFB1}">
          <p14:sldIdLst>
            <p14:sldId id="271"/>
            <p14:sldId id="272"/>
            <p14:sldId id="269"/>
            <p14:sldId id="270"/>
            <p14:sldId id="275"/>
            <p14:sldId id="279"/>
            <p14:sldId id="287"/>
            <p14:sldId id="288"/>
            <p14:sldId id="289"/>
            <p14:sldId id="291"/>
            <p14:sldId id="315"/>
            <p14:sldId id="340"/>
            <p14:sldId id="312"/>
            <p14:sldId id="345"/>
            <p14:sldId id="335"/>
            <p14:sldId id="337"/>
            <p14:sldId id="343"/>
            <p14:sldId id="296"/>
            <p14:sldId id="280"/>
            <p14:sldId id="286"/>
            <p14:sldId id="327"/>
            <p14:sldId id="295"/>
            <p14:sldId id="32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2449" autoAdjust="0"/>
  </p:normalViewPr>
  <p:slideViewPr>
    <p:cSldViewPr snapToGrid="0">
      <p:cViewPr varScale="1">
        <p:scale>
          <a:sx n="69" d="100"/>
          <a:sy n="69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8CB83-A3B7-4022-A29D-CA6F5304EC49}" type="datetimeFigureOut">
              <a:rPr lang="es-CL" smtClean="0"/>
            </a:fld>
            <a:endParaRPr lang="es-C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D5B1D-BF4B-46AE-992A-C499B8ADF125}" type="slidenum">
              <a:rPr lang="es-CL" smtClean="0"/>
            </a:fld>
            <a:endParaRPr lang="es-C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D5B1D-BF4B-46AE-992A-C499B8ADF125}" type="slidenum">
              <a:rPr lang="es-CL" smtClean="0"/>
            </a:fld>
            <a:endParaRPr lang="es-CL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E68B-0CEE-47A3-A859-CE6836D636E4}" type="datetimeFigureOut">
              <a:rPr lang="es-CL" smtClean="0"/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A85-BA73-465D-A776-5C0C74CDE498}" type="slidenum">
              <a:rPr lang="es-CL" smtClean="0"/>
            </a:fld>
            <a:endParaRPr lang="es-CL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E68B-0CEE-47A3-A859-CE6836D636E4}" type="datetimeFigureOut">
              <a:rPr lang="es-CL" smtClean="0"/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A85-BA73-465D-A776-5C0C74CDE498}" type="slidenum">
              <a:rPr lang="es-CL" smtClean="0"/>
            </a:fld>
            <a:endParaRPr lang="es-C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E68B-0CEE-47A3-A859-CE6836D636E4}" type="datetimeFigureOut">
              <a:rPr lang="es-CL" smtClean="0"/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A85-BA73-465D-A776-5C0C74CDE498}" type="slidenum">
              <a:rPr lang="es-CL" smtClean="0"/>
            </a:fld>
            <a:endParaRPr lang="es-CL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E68B-0CEE-47A3-A859-CE6836D636E4}" type="datetimeFigureOut">
              <a:rPr lang="es-CL" smtClean="0"/>
            </a:fld>
            <a:endParaRPr lang="es-C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A85-BA73-465D-A776-5C0C74CDE498}" type="slidenum">
              <a:rPr lang="es-CL" smtClean="0"/>
            </a:fld>
            <a:endParaRPr lang="es-C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E68B-0CEE-47A3-A859-CE6836D636E4}" type="datetimeFigureOut">
              <a:rPr lang="es-CL" smtClean="0"/>
            </a:fld>
            <a:endParaRPr lang="es-C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A85-BA73-465D-A776-5C0C74CDE498}" type="slidenum">
              <a:rPr lang="es-CL" smtClean="0"/>
            </a:fld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E68B-0CEE-47A3-A859-CE6836D636E4}" type="datetimeFigureOut">
              <a:rPr lang="es-CL" smtClean="0"/>
            </a:fld>
            <a:endParaRPr lang="es-C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A85-BA73-465D-A776-5C0C74CDE498}" type="slidenum">
              <a:rPr lang="es-CL" smtClean="0"/>
            </a:fld>
            <a:endParaRPr lang="es-C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E68B-0CEE-47A3-A859-CE6836D636E4}" type="datetimeFigureOut">
              <a:rPr lang="es-CL" smtClean="0"/>
            </a:fld>
            <a:endParaRPr lang="es-C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C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A85-BA73-465D-A776-5C0C74CDE498}" type="slidenum">
              <a:rPr lang="es-CL" smtClean="0"/>
            </a:fld>
            <a:endParaRPr lang="es-C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23AE68B-0CEE-47A3-A859-CE6836D636E4}" type="datetimeFigureOut">
              <a:rPr lang="es-CL" smtClean="0"/>
            </a:fld>
            <a:endParaRPr lang="es-C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948A85-BA73-465D-A776-5C0C74CDE498}" type="slidenum">
              <a:rPr lang="es-CL" smtClean="0"/>
            </a:fld>
            <a:endParaRPr lang="es-C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E68B-0CEE-47A3-A859-CE6836D636E4}" type="datetimeFigureOut">
              <a:rPr lang="es-CL" smtClean="0"/>
            </a:fld>
            <a:endParaRPr lang="es-C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A85-BA73-465D-A776-5C0C74CDE498}" type="slidenum">
              <a:rPr lang="es-CL" smtClean="0"/>
            </a:fld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E68B-0CEE-47A3-A859-CE6836D636E4}" type="datetimeFigureOut">
              <a:rPr lang="es-CL" smtClean="0"/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A85-BA73-465D-A776-5C0C74CDE498}" type="slidenum">
              <a:rPr lang="es-CL" smtClean="0"/>
            </a:fld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E68B-0CEE-47A3-A859-CE6836D636E4}" type="datetimeFigureOut">
              <a:rPr lang="es-CL" smtClean="0"/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A85-BA73-465D-A776-5C0C74CDE498}" type="slidenum">
              <a:rPr lang="es-CL" smtClean="0"/>
            </a:fld>
            <a:endParaRPr lang="es-C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3AE68B-0CEE-47A3-A859-CE6836D636E4}" type="datetimeFigureOut">
              <a:rPr lang="es-CL" smtClean="0"/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E948A85-BA73-465D-A776-5C0C74CDE498}" type="slidenum">
              <a:rPr lang="es-CL" smtClean="0"/>
            </a:fld>
            <a:endParaRPr lang="es-CL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bancoestado.sharepoint.com/:x:/r/sites/SGDC/_layouts/15/Doc.aspx?sourcedoc=%7B8E7064F8-2FD7-4CE3-9945-9123322A40E9%7D&amp;file=Eventos%20de%20Ciberseguridad%20(1).xlsx&amp;action=default&amp;mobileredirect=true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730062" y="2748734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s-CL" dirty="0"/>
              <a:t>Reporte de Eventos </a:t>
            </a:r>
            <a:br>
              <a:rPr lang="es-CL" dirty="0"/>
            </a:br>
            <a:r>
              <a:rPr lang="es-CL" dirty="0"/>
              <a:t>en Firewall </a:t>
            </a:r>
            <a:br>
              <a:rPr lang="es-CL" dirty="0"/>
            </a:br>
            <a:r>
              <a:rPr lang="es-CL" dirty="0"/>
              <a:t>IPS – Antivirus y AntiBot</a:t>
            </a:r>
            <a:br>
              <a:rPr lang="es-CL" dirty="0"/>
            </a:br>
            <a:endParaRPr lang="es-CL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614152" y="4308453"/>
            <a:ext cx="9144000" cy="1655762"/>
          </a:xfrm>
        </p:spPr>
        <p:txBody>
          <a:bodyPr/>
          <a:lstStyle/>
          <a:p>
            <a:endParaRPr lang="es-CL" dirty="0"/>
          </a:p>
          <a:p>
            <a:pPr algn="ctr"/>
            <a:r>
              <a:rPr lang="es-CL" dirty="0"/>
              <a:t>Gerencia Ciberseguridad</a:t>
            </a:r>
            <a:endParaRPr lang="es-CL" dirty="0"/>
          </a:p>
        </p:txBody>
      </p:sp>
      <p:pic>
        <p:nvPicPr>
          <p:cNvPr id="6" name="Imagen 5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8564450" y="425564"/>
            <a:ext cx="2764565" cy="8880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Perfil de Protección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s-CL" dirty="0"/>
          </a:p>
          <a:p>
            <a:r>
              <a:rPr lang="es-CL" sz="2400" dirty="0"/>
              <a:t>Respecto a las configuraciones relacionadas a las protecciones activas, se detalla lo siguiente:</a:t>
            </a:r>
            <a:endParaRPr lang="es-CL" sz="2400" dirty="0"/>
          </a:p>
          <a:p>
            <a:endParaRPr lang="es-CL" sz="2400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s-ES" sz="2400" dirty="0"/>
              <a:t>Performance </a:t>
            </a:r>
            <a:r>
              <a:rPr lang="es-ES" sz="2400" dirty="0" err="1"/>
              <a:t>Impact</a:t>
            </a:r>
            <a:r>
              <a:rPr lang="es-ES" sz="2400" dirty="0"/>
              <a:t> </a:t>
            </a:r>
            <a:endParaRPr lang="es-ES" sz="2400" dirty="0"/>
          </a:p>
          <a:p>
            <a:pPr marL="567055" lvl="3" indent="0">
              <a:buNone/>
            </a:pPr>
            <a:r>
              <a:rPr lang="es-ES" sz="2000" dirty="0"/>
              <a:t>Mide impacto en el rendimiento del Firewall.</a:t>
            </a:r>
            <a:endParaRPr lang="es-ES" sz="2000" dirty="0"/>
          </a:p>
          <a:p>
            <a:pPr marL="567055" lvl="3" indent="0">
              <a:buNone/>
            </a:pPr>
            <a:endParaRPr lang="es-CL" sz="2000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s-ES" sz="2400" dirty="0" err="1"/>
              <a:t>Severity</a:t>
            </a:r>
            <a:endParaRPr lang="es-ES" sz="2400" dirty="0"/>
          </a:p>
          <a:p>
            <a:pPr marL="567055" lvl="3" indent="0">
              <a:buNone/>
            </a:pPr>
            <a:r>
              <a:rPr lang="es-ES" sz="2000" dirty="0"/>
              <a:t>Mide cuan dañino es para el sistema la amenaza. </a:t>
            </a:r>
            <a:endParaRPr lang="es-ES" sz="2000" dirty="0"/>
          </a:p>
          <a:p>
            <a:pPr marL="567055" lvl="3" indent="0">
              <a:buNone/>
            </a:pPr>
            <a:endParaRPr lang="es-CL" sz="2000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s-ES" sz="2400" dirty="0" err="1"/>
              <a:t>Activation</a:t>
            </a:r>
            <a:r>
              <a:rPr lang="es-ES" sz="2400" dirty="0"/>
              <a:t> </a:t>
            </a:r>
            <a:r>
              <a:rPr lang="es-ES" sz="2400" dirty="0" err="1"/>
              <a:t>Mode</a:t>
            </a:r>
            <a:endParaRPr lang="es-ES" sz="2400" dirty="0"/>
          </a:p>
          <a:p>
            <a:pPr marL="567055" lvl="3" indent="0">
              <a:buNone/>
            </a:pPr>
            <a:r>
              <a:rPr lang="es-ES" sz="2000" dirty="0"/>
              <a:t>Mide que tan confiable es que se trate de un evento real.</a:t>
            </a:r>
            <a:endParaRPr lang="es-CL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dirty="0"/>
              <a:t>Eventos por Servicios/Acciones </a:t>
            </a:r>
            <a:br>
              <a:rPr lang="es-CL" dirty="0"/>
            </a:br>
            <a:r>
              <a:rPr lang="es-CL" dirty="0"/>
              <a:t>Realizadas por Plataforma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615341" y="286860"/>
            <a:ext cx="1951990" cy="74104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1180" y="1845945"/>
            <a:ext cx="860933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Eventos Detectados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400935"/>
            <a:ext cx="10058400" cy="2912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Eventos por Firewall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340" y="1921510"/>
            <a:ext cx="11631295" cy="33470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dirty="0"/>
              <a:t>Resumen Amenazas por Firewall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" y="1843405"/>
            <a:ext cx="11658600" cy="318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dirty="0"/>
              <a:t>Malware Detectados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100" y="1950720"/>
            <a:ext cx="11467465" cy="27851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dirty="0"/>
              <a:t>Dominios con Mala Reputación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005" y="1819910"/>
            <a:ext cx="11011535" cy="4314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Dominios con Mala Reputación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9256542" y="5584874"/>
            <a:ext cx="2123989" cy="6157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  <p:sp>
        <p:nvSpPr>
          <p:cNvPr id="8" name="CuadroTexto 7"/>
          <p:cNvSpPr txBox="1"/>
          <p:nvPr/>
        </p:nvSpPr>
        <p:spPr>
          <a:xfrm>
            <a:off x="9256543" y="5345723"/>
            <a:ext cx="2192508" cy="6157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  <p:sp>
        <p:nvSpPr>
          <p:cNvPr id="9" name="CuadroTexto 8"/>
          <p:cNvSpPr txBox="1"/>
          <p:nvPr/>
        </p:nvSpPr>
        <p:spPr>
          <a:xfrm>
            <a:off x="9256542" y="5345723"/>
            <a:ext cx="2192508" cy="6157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820" y="2395220"/>
            <a:ext cx="11577320" cy="1829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Amenazas por origen (IP Máquina)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5490" y="1845945"/>
            <a:ext cx="8221345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Amenazas por origen (IP Máquina)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185" y="1811655"/>
            <a:ext cx="10373995" cy="44316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Amenazas por origen (IP Máquina)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37080"/>
            <a:ext cx="10058400" cy="36398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KNS_FW_PRO</a:t>
            </a:r>
            <a:endParaRPr lang="es-CL" dirty="0" smtClean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7861610" y="1718131"/>
            <a:ext cx="4330390" cy="3753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/>
              <a:t>Resumen:</a:t>
            </a:r>
            <a:endParaRPr lang="es-CL" sz="2000" b="1" dirty="0"/>
          </a:p>
          <a:p>
            <a:endParaRPr lang="es-CL" sz="2000" dirty="0"/>
          </a:p>
          <a:p>
            <a:r>
              <a:t>En su mayoría se detectan eventos de DNS </a:t>
            </a:r>
          </a:p>
          <a:p>
            <a:r>
              <a:t>Trap que están tomando acción detect, </a:t>
            </a:r>
          </a:p>
          <a:p>
            <a:r>
              <a:t>pero la IP fue reemplazada (DNS response was replaced with a DNS trap bogus IP. See sk74060 for more information).</a:t>
            </a:r>
          </a:p>
          <a:p/>
          <a:p>
            <a:r>
              <a:t>Además, se detecta </a:t>
            </a:r>
            <a:r>
              <a:rPr lang="es-MX"/>
              <a:t>dos </a:t>
            </a:r>
            <a:r>
              <a:t>eventos IPS con </a:t>
            </a:r>
          </a:p>
          <a:p>
            <a:r>
              <a:t>acción Detect: </a:t>
            </a:r>
          </a:p>
          <a:p>
            <a:r>
              <a:t>- Novell GroupWise Internet Agent</a:t>
            </a:r>
          </a:p>
          <a:p>
            <a:r>
              <a:t>Content-Type Buffer Overflow</a:t>
            </a:r>
          </a:p>
          <a:p/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15" y="1718310"/>
            <a:ext cx="7473315" cy="3571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CQN_FW_PRO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7675417" y="1792865"/>
            <a:ext cx="4516583" cy="326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/>
              <a:t>Resumen:</a:t>
            </a:r>
            <a:endParaRPr lang="es-CL" sz="2000" b="1" dirty="0"/>
          </a:p>
          <a:p>
            <a:endParaRPr lang="es-CL" sz="2400" dirty="0"/>
          </a:p>
          <a:p>
            <a:r>
              <a:rPr lang="es-CL" dirty="0" smtClean="0"/>
              <a:t>En su mayoría se detectan eventos de DNS </a:t>
            </a:r>
            <a:r>
              <a:rPr lang="es-CL" dirty="0" err="1" smtClean="0"/>
              <a:t>Trap</a:t>
            </a:r>
            <a:r>
              <a:rPr lang="es-CL" dirty="0" smtClean="0"/>
              <a:t> que están tomando acción </a:t>
            </a:r>
            <a:r>
              <a:rPr lang="es-CL" dirty="0" err="1" smtClean="0"/>
              <a:t>detect</a:t>
            </a:r>
            <a:r>
              <a:rPr lang="es-CL" dirty="0" smtClean="0"/>
              <a:t>, pero la IP fue reemplazada (DNS response </a:t>
            </a:r>
            <a:r>
              <a:rPr lang="es-CL" dirty="0" err="1" smtClean="0"/>
              <a:t>was</a:t>
            </a:r>
            <a:r>
              <a:rPr lang="es-CL" dirty="0" smtClean="0"/>
              <a:t> </a:t>
            </a:r>
            <a:r>
              <a:rPr lang="es-CL" dirty="0" err="1" smtClean="0"/>
              <a:t>replaced</a:t>
            </a:r>
            <a:r>
              <a:rPr lang="es-CL" dirty="0" smtClean="0"/>
              <a:t> </a:t>
            </a:r>
            <a:r>
              <a:rPr lang="es-CL" dirty="0" err="1" smtClean="0"/>
              <a:t>with</a:t>
            </a:r>
            <a:r>
              <a:rPr lang="es-CL" dirty="0" smtClean="0"/>
              <a:t> a DNS </a:t>
            </a:r>
            <a:r>
              <a:rPr lang="es-CL" dirty="0" err="1" smtClean="0"/>
              <a:t>trap</a:t>
            </a:r>
            <a:r>
              <a:rPr lang="es-CL" dirty="0" smtClean="0"/>
              <a:t> </a:t>
            </a:r>
            <a:r>
              <a:rPr lang="es-CL" dirty="0" err="1" smtClean="0"/>
              <a:t>bogus</a:t>
            </a:r>
            <a:r>
              <a:rPr lang="es-CL" dirty="0" smtClean="0"/>
              <a:t> IP. </a:t>
            </a:r>
            <a:r>
              <a:rPr lang="es-CL" dirty="0" err="1" smtClean="0"/>
              <a:t>See</a:t>
            </a:r>
            <a:r>
              <a:rPr lang="es-CL" dirty="0" smtClean="0"/>
              <a:t> sk74060 </a:t>
            </a:r>
            <a:r>
              <a:rPr lang="es-CL" dirty="0" err="1" smtClean="0"/>
              <a:t>for</a:t>
            </a:r>
            <a:r>
              <a:rPr lang="es-CL" dirty="0" smtClean="0"/>
              <a:t> more </a:t>
            </a:r>
            <a:r>
              <a:rPr lang="es-CL" dirty="0" err="1" smtClean="0"/>
              <a:t>information</a:t>
            </a:r>
            <a:r>
              <a:rPr lang="es-CL" dirty="0" smtClean="0"/>
              <a:t>).</a:t>
            </a:r>
            <a:endParaRPr lang="es-CL" dirty="0" smtClean="0"/>
          </a:p>
          <a:p>
            <a:endParaRPr lang="es-CL" dirty="0"/>
          </a:p>
          <a:p>
            <a:r>
              <a:rPr lang="es-MX" altLang="es-CL" dirty="0" smtClean="0"/>
              <a:t>No</a:t>
            </a:r>
            <a:r>
              <a:rPr lang="es-CL" dirty="0" smtClean="0"/>
              <a:t> se detectan evento</a:t>
            </a:r>
            <a:r>
              <a:rPr lang="es-MX" altLang="es-CL" dirty="0" smtClean="0"/>
              <a:t>s</a:t>
            </a:r>
            <a:r>
              <a:rPr lang="es-CL" dirty="0" smtClean="0"/>
              <a:t> IPS con acción </a:t>
            </a:r>
            <a:r>
              <a:rPr lang="es-CL" dirty="0" err="1" smtClean="0"/>
              <a:t>Prevent</a:t>
            </a:r>
            <a:endParaRPr lang="es-CL" dirty="0" smtClean="0"/>
          </a:p>
          <a:p>
            <a:endParaRPr lang="es-CL" dirty="0"/>
          </a:p>
          <a:p>
            <a:endParaRPr lang="en-US" dirty="0" smtClean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780" y="1863090"/>
            <a:ext cx="7309485" cy="35191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2814" y="286463"/>
            <a:ext cx="10515600" cy="1325563"/>
          </a:xfrm>
        </p:spPr>
        <p:txBody>
          <a:bodyPr/>
          <a:lstStyle/>
          <a:p>
            <a:r>
              <a:rPr lang="es-CL" dirty="0"/>
              <a:t>KNS_FW_W2000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7995566" y="1877142"/>
            <a:ext cx="40994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/>
              <a:t>Resumen:</a:t>
            </a:r>
            <a:endParaRPr lang="es-CL" sz="2000" b="1" dirty="0"/>
          </a:p>
          <a:p>
            <a:endParaRPr lang="es-CL" sz="2000" dirty="0"/>
          </a:p>
          <a:p>
            <a:r>
              <a:rPr lang="es-CL" sz="2400" dirty="0"/>
              <a:t>En su mayoría se detectan eventos de DNS </a:t>
            </a:r>
            <a:r>
              <a:rPr lang="es-CL" sz="2400" dirty="0" err="1"/>
              <a:t>Trap</a:t>
            </a:r>
            <a:r>
              <a:rPr lang="es-CL" sz="2400" dirty="0"/>
              <a:t> que están tomando acción </a:t>
            </a:r>
            <a:r>
              <a:rPr lang="es-CL" sz="2400" dirty="0" err="1"/>
              <a:t>detect</a:t>
            </a:r>
            <a:r>
              <a:rPr lang="es-CL" sz="2400" dirty="0"/>
              <a:t>, </a:t>
            </a:r>
            <a:r>
              <a:rPr lang="en-US" sz="2400" dirty="0" err="1"/>
              <a:t>pero</a:t>
            </a:r>
            <a:r>
              <a:rPr lang="en-US" sz="2400" dirty="0"/>
              <a:t> la IP </a:t>
            </a:r>
            <a:r>
              <a:rPr lang="en-US" sz="2400" dirty="0" err="1"/>
              <a:t>fue</a:t>
            </a:r>
            <a:r>
              <a:rPr lang="en-US" sz="2400" dirty="0"/>
              <a:t> </a:t>
            </a:r>
            <a:r>
              <a:rPr lang="en-US" sz="2400" dirty="0" err="1"/>
              <a:t>reemplazada</a:t>
            </a:r>
            <a:r>
              <a:rPr lang="en-US" sz="2400" dirty="0"/>
              <a:t> (DNS response was replaced with a DNS trap bogus IP. See sk74060 for more information</a:t>
            </a:r>
            <a:r>
              <a:rPr lang="en-US" sz="2400" dirty="0" smtClean="0"/>
              <a:t>).</a:t>
            </a:r>
            <a:endParaRPr lang="en-US" sz="2400" dirty="0"/>
          </a:p>
          <a:p>
            <a:endParaRPr lang="en-US" sz="1600" dirty="0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765" y="1877060"/>
            <a:ext cx="7264400" cy="32010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KNS_FW_W2003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7799294" y="1769348"/>
            <a:ext cx="439270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/>
              <a:t>Resumen:</a:t>
            </a:r>
            <a:endParaRPr lang="es-CL" sz="2000" b="1" dirty="0"/>
          </a:p>
          <a:p>
            <a:endParaRPr lang="es-CL" sz="1600" dirty="0"/>
          </a:p>
          <a:p>
            <a:r>
              <a:rPr lang="es-CL" dirty="0" smtClean="0"/>
              <a:t>Se </a:t>
            </a:r>
            <a:r>
              <a:rPr lang="es-CL" dirty="0"/>
              <a:t>detecta</a:t>
            </a:r>
            <a:r>
              <a:rPr lang="es-MX" altLang="es-CL" dirty="0"/>
              <a:t> un</a:t>
            </a:r>
            <a:r>
              <a:rPr lang="es-CL" dirty="0"/>
              <a:t> </a:t>
            </a:r>
            <a:r>
              <a:rPr lang="es-CL" dirty="0" smtClean="0"/>
              <a:t>evento </a:t>
            </a:r>
            <a:r>
              <a:rPr lang="es-CL" dirty="0"/>
              <a:t>IP con acción </a:t>
            </a:r>
            <a:r>
              <a:rPr lang="es-CL" dirty="0" err="1"/>
              <a:t>Detect</a:t>
            </a:r>
            <a:r>
              <a:rPr lang="es-CL" dirty="0"/>
              <a:t>:</a:t>
            </a:r>
            <a:endParaRPr lang="es-CL" dirty="0"/>
          </a:p>
          <a:p>
            <a:endParaRPr lang="es-CL" dirty="0"/>
          </a:p>
          <a:p>
            <a:pPr marL="285750" indent="-285750">
              <a:buFontTx/>
              <a:buChar char="-"/>
            </a:pPr>
            <a:r>
              <a:rPr lang="en-US" dirty="0"/>
              <a:t>SQL Servers UNION Query-based SQL </a:t>
            </a:r>
            <a:r>
              <a:rPr lang="en-US" dirty="0" smtClean="0"/>
              <a:t>Injection</a:t>
            </a:r>
            <a:endParaRPr lang="en-US" dirty="0" smtClean="0"/>
          </a:p>
          <a:p>
            <a:pPr indent="0">
              <a:buFontTx/>
              <a:buNone/>
            </a:pPr>
            <a:endParaRPr lang="fr-FR" dirty="0" smtClean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030" y="1769110"/>
            <a:ext cx="7056755" cy="3117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KNS_FW_PRE_PROD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7658304" y="1769348"/>
            <a:ext cx="4336473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/>
              <a:t>Resumen:</a:t>
            </a:r>
            <a:endParaRPr lang="es-CL" sz="2000" b="1" dirty="0"/>
          </a:p>
          <a:p>
            <a:endParaRPr lang="es-CL" dirty="0"/>
          </a:p>
          <a:p>
            <a:r>
              <a:rPr lang="es-CL" dirty="0" smtClean="0"/>
              <a:t>Se detecta </a:t>
            </a:r>
            <a:r>
              <a:rPr lang="es-MX" altLang="es-CL" dirty="0" smtClean="0"/>
              <a:t>dos </a:t>
            </a:r>
            <a:r>
              <a:rPr lang="es-CL" dirty="0" smtClean="0"/>
              <a:t>eventos IPS</a:t>
            </a:r>
            <a:r>
              <a:rPr lang="es-MX" altLang="es-CL" dirty="0" smtClean="0"/>
              <a:t> </a:t>
            </a:r>
            <a:r>
              <a:rPr lang="es-CL" dirty="0" smtClean="0"/>
              <a:t>con acción </a:t>
            </a:r>
            <a:r>
              <a:rPr lang="es-CL" dirty="0" err="1" smtClean="0"/>
              <a:t>Detect</a:t>
            </a:r>
            <a:r>
              <a:rPr lang="es-CL" dirty="0" smtClean="0"/>
              <a:t>:</a:t>
            </a:r>
            <a:endParaRPr lang="es-CL" dirty="0" smtClean="0"/>
          </a:p>
          <a:p>
            <a:endParaRPr lang="es-CL" dirty="0"/>
          </a:p>
          <a:p>
            <a:pPr marL="285750" indent="-285750">
              <a:buFontTx/>
              <a:buChar char="-"/>
            </a:pPr>
            <a:r>
              <a:rPr lang="en-US" dirty="0"/>
              <a:t>MIT Kerberos KDC Cross Realm Referral Denial of Service</a:t>
            </a:r>
            <a:endParaRPr lang="en-US" dirty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820" y="1769110"/>
            <a:ext cx="7374255" cy="37407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KNS_FW_ADM_INFRA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7855527" y="1769348"/>
            <a:ext cx="433647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/>
              <a:t>Resumen:</a:t>
            </a:r>
            <a:endParaRPr lang="es-CL" sz="2000" b="1" dirty="0"/>
          </a:p>
          <a:p>
            <a:endParaRPr lang="es-CL" sz="1600" dirty="0"/>
          </a:p>
          <a:p>
            <a:r>
              <a:rPr lang="es-CL" sz="2400" dirty="0"/>
              <a:t>En su mayoría se detectan eventos de DNS </a:t>
            </a:r>
            <a:r>
              <a:rPr lang="es-CL" sz="2400" dirty="0" err="1"/>
              <a:t>Trap</a:t>
            </a:r>
            <a:r>
              <a:rPr lang="es-CL" sz="2400" dirty="0"/>
              <a:t> que están tomando acción </a:t>
            </a:r>
            <a:r>
              <a:rPr lang="es-CL" sz="2400" dirty="0" err="1"/>
              <a:t>detect</a:t>
            </a:r>
            <a:r>
              <a:rPr lang="es-CL" sz="2400" dirty="0"/>
              <a:t>, </a:t>
            </a:r>
            <a:r>
              <a:rPr lang="en-US" sz="2400" dirty="0" err="1"/>
              <a:t>pero</a:t>
            </a:r>
            <a:r>
              <a:rPr lang="en-US" sz="2400" dirty="0"/>
              <a:t> la IP </a:t>
            </a:r>
            <a:r>
              <a:rPr lang="en-US" sz="2400" dirty="0" err="1"/>
              <a:t>fue</a:t>
            </a:r>
            <a:r>
              <a:rPr lang="en-US" sz="2400" dirty="0"/>
              <a:t> </a:t>
            </a:r>
            <a:r>
              <a:rPr lang="en-US" sz="2400" dirty="0" err="1"/>
              <a:t>reemplazada</a:t>
            </a:r>
            <a:r>
              <a:rPr lang="en-US" sz="2400" dirty="0"/>
              <a:t> (DNS response was replaced with a DNS trap bogus IP. See sk74060 for more information</a:t>
            </a:r>
            <a:r>
              <a:rPr lang="en-US" sz="2400" dirty="0" smtClean="0"/>
              <a:t>).</a:t>
            </a:r>
            <a:endParaRPr lang="en-US" sz="2400" dirty="0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580" y="1845945"/>
            <a:ext cx="7418705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Sin Eventos por Informar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6905768" y="1737360"/>
            <a:ext cx="5145206" cy="4369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Resumen:</a:t>
            </a:r>
            <a:endParaRPr lang="es-CL" b="1" dirty="0"/>
          </a:p>
          <a:p>
            <a:endParaRPr lang="es-CL" sz="2000" dirty="0"/>
          </a:p>
          <a:p>
            <a:r>
              <a:rPr lang="es-CL" sz="2000" dirty="0"/>
              <a:t>Los siguientes equipos no registraron eventos para informar:</a:t>
            </a:r>
            <a:endParaRPr lang="es-CL" sz="2000" dirty="0"/>
          </a:p>
          <a:p>
            <a:endParaRPr lang="es-C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KNS_FW_DMZ_PROD_FE</a:t>
            </a:r>
            <a:endParaRPr lang="es-C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CQN_FW_DMZ-PROD_FE</a:t>
            </a:r>
            <a:endParaRPr lang="es-C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KNS_FW_RREE</a:t>
            </a:r>
            <a:endParaRPr lang="es-C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KNS_FW_NAV</a:t>
            </a:r>
            <a:endParaRPr lang="es-C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KNS_FW_USUA</a:t>
            </a:r>
            <a:endParaRPr lang="es-C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CQN_FW_USUA</a:t>
            </a:r>
            <a:endParaRPr lang="es-C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CQN_FW_W2000</a:t>
            </a:r>
            <a:endParaRPr lang="es-C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CQN_FW_W2003</a:t>
            </a:r>
            <a:endParaRPr lang="es-C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KNS_FW_ATM</a:t>
            </a:r>
            <a:endParaRPr lang="es-C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CQN_FW_ATM</a:t>
            </a:r>
            <a:endParaRPr lang="es-CL" dirty="0" smtClean="0"/>
          </a:p>
        </p:txBody>
      </p:sp>
      <p:pic>
        <p:nvPicPr>
          <p:cNvPr id="10" name="Marcador de contenido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53" y="1982710"/>
            <a:ext cx="6534698" cy="3294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4931" y="72865"/>
            <a:ext cx="10515600" cy="1325563"/>
          </a:xfrm>
        </p:spPr>
        <p:txBody>
          <a:bodyPr/>
          <a:lstStyle/>
          <a:p>
            <a:r>
              <a:rPr lang="es-CL" dirty="0"/>
              <a:t>Resumen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021279" y="1828566"/>
            <a:ext cx="10790593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Para el periodo analizado, </a:t>
            </a:r>
            <a:r>
              <a:rPr lang="es-ES" dirty="0" smtClean="0"/>
              <a:t>se detectan dos equipos </a:t>
            </a:r>
            <a:r>
              <a:rPr lang="es-ES" dirty="0"/>
              <a:t>con trafico </a:t>
            </a:r>
            <a:r>
              <a:rPr lang="es-ES" dirty="0" smtClean="0"/>
              <a:t>anómalo, los cuales, fueron escalados para su revisión.</a:t>
            </a:r>
            <a:endParaRPr lang="es-E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Para el periodo analizado, NO se detecta trafico anómalo en FW de Swift.</a:t>
            </a:r>
            <a:endParaRPr lang="es-E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En </a:t>
            </a:r>
            <a:r>
              <a:rPr lang="es-ES" dirty="0" smtClean="0"/>
              <a:t>KNS_FW_PRO, </a:t>
            </a:r>
            <a:r>
              <a:rPr lang="es-CL" dirty="0"/>
              <a:t>se </a:t>
            </a:r>
            <a:r>
              <a:rPr lang="es-CL" dirty="0" smtClean="0"/>
              <a:t>detectan dos eventos </a:t>
            </a:r>
            <a:r>
              <a:rPr lang="es-CL" dirty="0"/>
              <a:t>IPS con acción </a:t>
            </a:r>
            <a:r>
              <a:rPr lang="es-CL" dirty="0" err="1"/>
              <a:t>Detect</a:t>
            </a:r>
            <a:r>
              <a:rPr lang="es-CL" dirty="0"/>
              <a:t>.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En CQN_FW_PRO</a:t>
            </a:r>
            <a:r>
              <a:rPr lang="es-CL" dirty="0"/>
              <a:t>, </a:t>
            </a:r>
            <a:r>
              <a:rPr lang="es-MX" altLang="es-CL" dirty="0"/>
              <a:t>no se detectan</a:t>
            </a:r>
            <a:r>
              <a:rPr lang="es-CL" dirty="0" smtClean="0"/>
              <a:t> evento</a:t>
            </a:r>
            <a:r>
              <a:rPr lang="es-MX" altLang="es-CL" dirty="0" smtClean="0"/>
              <a:t>s</a:t>
            </a:r>
            <a:r>
              <a:rPr lang="es-CL" dirty="0" smtClean="0"/>
              <a:t> </a:t>
            </a:r>
            <a:r>
              <a:rPr lang="es-CL" dirty="0"/>
              <a:t>IPS</a:t>
            </a:r>
            <a:r>
              <a:rPr lang="es-CL" dirty="0" smtClean="0"/>
              <a:t>.</a:t>
            </a:r>
            <a:endParaRPr lang="es-C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sym typeface="+mn-ea"/>
              </a:rPr>
              <a:t>En KNS_FW_W200</a:t>
            </a:r>
            <a:r>
              <a:rPr lang="es-MX" altLang="es-ES" dirty="0" smtClean="0">
                <a:sym typeface="+mn-ea"/>
              </a:rPr>
              <a:t>0</a:t>
            </a:r>
            <a:r>
              <a:rPr lang="es-ES" dirty="0">
                <a:sym typeface="+mn-ea"/>
              </a:rPr>
              <a:t>, </a:t>
            </a:r>
            <a:r>
              <a:rPr lang="es-ES" dirty="0" smtClean="0">
                <a:sym typeface="+mn-ea"/>
              </a:rPr>
              <a:t> </a:t>
            </a:r>
            <a:r>
              <a:rPr lang="es-MX" altLang="es-CL" dirty="0">
                <a:sym typeface="+mn-ea"/>
              </a:rPr>
              <a:t>no se detectan</a:t>
            </a:r>
            <a:r>
              <a:rPr lang="es-CL" dirty="0" smtClean="0">
                <a:sym typeface="+mn-ea"/>
              </a:rPr>
              <a:t> evento</a:t>
            </a:r>
            <a:r>
              <a:rPr lang="es-MX" altLang="es-CL" dirty="0" smtClean="0">
                <a:sym typeface="+mn-ea"/>
              </a:rPr>
              <a:t>s</a:t>
            </a:r>
            <a:r>
              <a:rPr lang="es-CL" dirty="0" smtClean="0">
                <a:sym typeface="+mn-ea"/>
              </a:rPr>
              <a:t> </a:t>
            </a:r>
            <a:r>
              <a:rPr lang="es-CL" dirty="0">
                <a:sym typeface="+mn-ea"/>
              </a:rPr>
              <a:t>IPS</a:t>
            </a:r>
            <a:r>
              <a:rPr lang="es-ES" dirty="0" smtClean="0">
                <a:sym typeface="+mn-ea"/>
              </a:rPr>
              <a:t>.</a:t>
            </a:r>
            <a:endParaRPr lang="es-ES" dirty="0" smtClean="0"/>
          </a:p>
          <a:p>
            <a:endParaRPr lang="es-E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En KNS_FW_W2003</a:t>
            </a:r>
            <a:r>
              <a:rPr lang="es-ES" dirty="0"/>
              <a:t>, se detecta </a:t>
            </a:r>
            <a:r>
              <a:rPr lang="es-MX" altLang="es-ES" dirty="0"/>
              <a:t>un</a:t>
            </a:r>
            <a:r>
              <a:rPr lang="es-ES" dirty="0" smtClean="0"/>
              <a:t> evento </a:t>
            </a:r>
            <a:r>
              <a:rPr lang="es-ES" dirty="0"/>
              <a:t>IPS con acción </a:t>
            </a:r>
            <a:r>
              <a:rPr lang="es-ES" dirty="0" err="1"/>
              <a:t>Detect</a:t>
            </a:r>
            <a:r>
              <a:rPr lang="es-ES" dirty="0"/>
              <a:t>.</a:t>
            </a:r>
            <a:endParaRPr lang="es-ES" dirty="0"/>
          </a:p>
          <a:p>
            <a:pPr indent="0">
              <a:buFont typeface="Arial" panose="020B0604020202020204" pitchFamily="34" charset="0"/>
              <a:buNone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sym typeface="+mn-ea"/>
              </a:rPr>
              <a:t>En KNS_FW_</a:t>
            </a:r>
            <a:r>
              <a:rPr lang="es-MX" altLang="es-ES" dirty="0" smtClean="0">
                <a:sym typeface="+mn-ea"/>
              </a:rPr>
              <a:t>PRE_PRO</a:t>
            </a:r>
            <a:r>
              <a:rPr lang="es-ES" dirty="0">
                <a:sym typeface="+mn-ea"/>
              </a:rPr>
              <a:t>, se detecta</a:t>
            </a:r>
            <a:r>
              <a:rPr lang="es-MX" altLang="es-ES" dirty="0">
                <a:sym typeface="+mn-ea"/>
              </a:rPr>
              <a:t>n</a:t>
            </a:r>
            <a:r>
              <a:rPr lang="es-ES" dirty="0">
                <a:sym typeface="+mn-ea"/>
              </a:rPr>
              <a:t> </a:t>
            </a:r>
            <a:r>
              <a:rPr lang="es-MX" dirty="0">
                <a:sym typeface="+mn-ea"/>
              </a:rPr>
              <a:t>dos </a:t>
            </a:r>
            <a:r>
              <a:rPr lang="es-ES" dirty="0" smtClean="0">
                <a:sym typeface="+mn-ea"/>
              </a:rPr>
              <a:t>evento</a:t>
            </a:r>
            <a:r>
              <a:rPr lang="es-MX" altLang="es-ES" dirty="0" smtClean="0">
                <a:sym typeface="+mn-ea"/>
              </a:rPr>
              <a:t>s</a:t>
            </a:r>
            <a:r>
              <a:rPr lang="es-ES" dirty="0" smtClean="0">
                <a:sym typeface="+mn-ea"/>
              </a:rPr>
              <a:t> </a:t>
            </a:r>
            <a:r>
              <a:rPr lang="es-ES" dirty="0">
                <a:sym typeface="+mn-ea"/>
              </a:rPr>
              <a:t>IPS con acción </a:t>
            </a:r>
            <a:r>
              <a:rPr lang="es-ES" dirty="0" err="1">
                <a:sym typeface="+mn-ea"/>
              </a:rPr>
              <a:t>Detect</a:t>
            </a:r>
            <a:r>
              <a:rPr lang="es-ES" dirty="0">
                <a:sym typeface="+mn-ea"/>
              </a:rPr>
              <a:t>.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>
                <a:sym typeface="+mn-ea"/>
              </a:rPr>
              <a:t>KNS_FW_ADM_INFRA</a:t>
            </a:r>
            <a:r>
              <a:rPr lang="es-ES" dirty="0" smtClean="0"/>
              <a:t>, </a:t>
            </a:r>
            <a:r>
              <a:rPr lang="es-MX" altLang="es-CL" dirty="0">
                <a:sym typeface="+mn-ea"/>
              </a:rPr>
              <a:t>no se detectan</a:t>
            </a:r>
            <a:r>
              <a:rPr lang="es-CL" dirty="0" smtClean="0">
                <a:sym typeface="+mn-ea"/>
              </a:rPr>
              <a:t> evento</a:t>
            </a:r>
            <a:r>
              <a:rPr lang="es-MX" altLang="es-CL" dirty="0" smtClean="0">
                <a:sym typeface="+mn-ea"/>
              </a:rPr>
              <a:t>s</a:t>
            </a:r>
            <a:r>
              <a:rPr lang="es-CL" dirty="0" smtClean="0">
                <a:sym typeface="+mn-ea"/>
              </a:rPr>
              <a:t> </a:t>
            </a:r>
            <a:r>
              <a:rPr lang="es-CL" dirty="0">
                <a:sym typeface="+mn-ea"/>
              </a:rPr>
              <a:t>IPS</a:t>
            </a:r>
            <a:r>
              <a:rPr lang="es-ES" dirty="0" smtClean="0"/>
              <a:t>.</a:t>
            </a:r>
            <a:endParaRPr lang="es-E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5017" y="286463"/>
            <a:ext cx="10515600" cy="1325563"/>
          </a:xfrm>
        </p:spPr>
        <p:txBody>
          <a:bodyPr/>
          <a:lstStyle/>
          <a:p>
            <a:r>
              <a:rPr lang="es-CL" dirty="0"/>
              <a:t>Nuevos Equipos Detectados</a:t>
            </a:r>
            <a:endParaRPr lang="es-CL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9428541" y="657383"/>
            <a:ext cx="1951990" cy="741045"/>
          </a:xfrm>
          <a:prstGeom prst="rect">
            <a:avLst/>
          </a:prstGeom>
        </p:spPr>
      </p:pic>
      <p:graphicFrame>
        <p:nvGraphicFramePr>
          <p:cNvPr id="6" name="Tabla 5"/>
          <p:cNvGraphicFramePr>
            <a:graphicFrameLocks noGrp="1"/>
          </p:cNvGraphicFramePr>
          <p:nvPr/>
        </p:nvGraphicFramePr>
        <p:xfrm>
          <a:off x="766414" y="2127937"/>
          <a:ext cx="10878820" cy="982345"/>
        </p:xfrm>
        <a:graphic>
          <a:graphicData uri="http://schemas.openxmlformats.org/drawingml/2006/table">
            <a:tbl>
              <a:tblPr/>
              <a:tblGrid>
                <a:gridCol w="1336170"/>
                <a:gridCol w="1596580"/>
                <a:gridCol w="2147454"/>
                <a:gridCol w="1233055"/>
                <a:gridCol w="4565481"/>
              </a:tblGrid>
              <a:tr h="436245">
                <a:tc>
                  <a:txBody>
                    <a:bodyPr/>
                    <a:lstStyle/>
                    <a:p>
                      <a:pPr algn="ctr" rtl="0" fontAlgn="b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de equipo</a:t>
                      </a:r>
                      <a:endParaRPr lang="es-C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Dirección IP</a:t>
                      </a:r>
                      <a:endParaRPr lang="es-C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Amenaza (Malware </a:t>
                      </a:r>
                      <a:r>
                        <a:rPr lang="es-CL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Family</a:t>
                      </a:r>
                      <a:endParaRPr lang="es-C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L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  <a:endParaRPr lang="es-C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Detalle</a:t>
                      </a:r>
                      <a:endParaRPr lang="es-C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  <a:tr h="273071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s-MX" alt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se detectan equipos nuevos en el periodo analizado</a:t>
                      </a:r>
                      <a:endParaRPr lang="es-MX" altLang="es-C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9525" marR="857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Seguimiento de Casos en Revisión y/o en Investigación</a:t>
            </a:r>
            <a:endParaRPr lang="es-CL" dirty="0"/>
          </a:p>
        </p:txBody>
      </p:sp>
      <p:sp>
        <p:nvSpPr>
          <p:cNvPr id="4" name="Rectángulo 3"/>
          <p:cNvSpPr/>
          <p:nvPr/>
        </p:nvSpPr>
        <p:spPr>
          <a:xfrm>
            <a:off x="1248247" y="2182571"/>
            <a:ext cx="1051612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Nota: </a:t>
            </a:r>
            <a:r>
              <a:rPr lang="es-ES" dirty="0"/>
              <a:t>Debido que la planilla se extiende, a nivel de que su visualización no es la optima, se procede a adjuntar el link de su ubicación.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CL" dirty="0">
                <a:hlinkClick r:id="rId1"/>
              </a:rPr>
              <a:t>https://bancoestado.sharepoint.com/:x:/r/sites/SGDC/_layouts/15/Doc.aspx?sourcedoc=%7B8E7064F8-2FD7-4CE3-9945-9123322A40E9%7D&amp;file=Eventos%20de%20Ciberseguridad%20(1).</a:t>
            </a:r>
            <a:r>
              <a:rPr lang="es-CL" dirty="0" smtClean="0">
                <a:hlinkClick r:id="rId1"/>
              </a:rPr>
              <a:t>xlsx&amp;action=default&amp;mobileredirect=true</a:t>
            </a:r>
            <a:endParaRPr lang="es-CL" dirty="0" smtClean="0"/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 continuación, se señala los últimos equipos detectados y que fueron agregados a la planilla de seguimiento</a:t>
            </a:r>
            <a:endParaRPr lang="es-E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Seguimiento de Casos en Revisión y/o en Investigación</a:t>
            </a:r>
            <a:endParaRPr lang="es-CL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5590" y="1830705"/>
            <a:ext cx="11643995" cy="403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3574</Words>
  <Application>WPS Presentation</Application>
  <PresentationFormat>Panorámica</PresentationFormat>
  <Paragraphs>158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Retrospección</vt:lpstr>
      <vt:lpstr>Reporte de Eventos  en Firewall  IPS – Antivirus y AntiBot </vt:lpstr>
      <vt:lpstr>Perfil de Protección</vt:lpstr>
      <vt:lpstr>Eventos por Servicios/Acciones  Realizadas por Plataforma</vt:lpstr>
      <vt:lpstr>Tipos de Eventos Detectados</vt:lpstr>
      <vt:lpstr>Eventos por Firewall</vt:lpstr>
      <vt:lpstr>Resumen Amenazas por Firewall</vt:lpstr>
      <vt:lpstr>Malware Detectados</vt:lpstr>
      <vt:lpstr>Dominios con Mala Reputación</vt:lpstr>
      <vt:lpstr>Dominios con Mala Reputación</vt:lpstr>
      <vt:lpstr>Amenazas por origen (IP Máquina)</vt:lpstr>
      <vt:lpstr>Amenazas por origen (IP Máquina)</vt:lpstr>
      <vt:lpstr>Amenazas por origen (IP Máquina)</vt:lpstr>
      <vt:lpstr>KNS_FW_RREE</vt:lpstr>
      <vt:lpstr>CQN_FW_PRO</vt:lpstr>
      <vt:lpstr>KNS_FW_W2000</vt:lpstr>
      <vt:lpstr>KNS_FW_W2003</vt:lpstr>
      <vt:lpstr>KNS_FW_PRE_PROD</vt:lpstr>
      <vt:lpstr>KNS_FW_ADM_INFRA</vt:lpstr>
      <vt:lpstr>Sin Eventos por Informar</vt:lpstr>
      <vt:lpstr>Resumen</vt:lpstr>
      <vt:lpstr>Nuevos Equipos Detectados</vt:lpstr>
      <vt:lpstr>Seguimiento de Casos en Revisión y/o en Investigación</vt:lpstr>
      <vt:lpstr>Seguimiento de Casos en Revisión y/o en Investigación</vt:lpstr>
    </vt:vector>
  </TitlesOfParts>
  <Company>BancoEstado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Digital (APP)</dc:title>
  <dc:creator>Melo Uarac Ross Mery</dc:creator>
  <cp:lastModifiedBy>Usuario</cp:lastModifiedBy>
  <cp:revision>700</cp:revision>
  <dcterms:created xsi:type="dcterms:W3CDTF">2020-08-07T16:15:00Z</dcterms:created>
  <dcterms:modified xsi:type="dcterms:W3CDTF">2020-12-31T22:22:56Z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-1497280386</vt:i4>
  </property>
  <property fmtid="{D5CDD505-2E9C-101B-9397-08002B2CF9AE}" pid="3" name="_NewReviewCycle">
    <vt:lpwstr/>
  </property>
  <property fmtid="{D5CDD505-2E9C-101B-9397-08002B2CF9AE}" pid="4" name="_EmailSubject">
    <vt:lpwstr>ppt informe</vt:lpwstr>
  </property>
  <property fmtid="{D5CDD505-2E9C-101B-9397-08002B2CF9AE}" pid="5" name="_AuthorEmail">
    <vt:lpwstr>slagos1@bancoestado.cl</vt:lpwstr>
  </property>
  <property fmtid="{D5CDD505-2E9C-101B-9397-08002B2CF9AE}" pid="6" name="_AuthorEmailDisplayName">
    <vt:lpwstr>Lagos Perez Sergio Humberto</vt:lpwstr>
  </property>
  <property fmtid="{D5CDD505-2E9C-101B-9397-08002B2CF9AE}" pid="7" name="KSOProductBuildVer">
    <vt:lpwstr>1033-11.2.0.9906</vt:lpwstr>
  </property>
</Properties>
</file>